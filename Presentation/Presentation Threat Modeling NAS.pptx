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Aptos Light" panose="020B0004020202020204" pitchFamily="34" charset="0"/>
      <p:regular r:id="rId15"/>
      <p:italic r:id="rId16"/>
    </p:embeddedFont>
    <p:embeddedFont>
      <p:font typeface="Canva Sans" panose="020B0604020202020204" charset="0"/>
      <p:regular r:id="rId17"/>
    </p:embeddedFont>
    <p:embeddedFont>
      <p:font typeface="Cormorant SC" panose="020B0604020202020204" charset="0"/>
      <p:regular r:id="rId18"/>
    </p:embeddedFont>
    <p:embeddedFont>
      <p:font typeface="Oswald Bold" panose="020B0604020202020204" charset="0"/>
      <p:regular r:id="rId19"/>
    </p:embeddedFont>
    <p:embeddedFont>
      <p:font typeface="Segoe UI" panose="020B0502040204020203" pitchFamily="34" charset="0"/>
      <p:regular r:id="rId20"/>
      <p:bold r:id="rId21"/>
      <p:italic r:id="rId22"/>
      <p:boldItalic r:id="rId23"/>
    </p:embeddedFont>
    <p:embeddedFont>
      <p:font typeface="TT Norms" panose="020B0604020202020204" charset="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2" d="100"/>
          <a:sy n="72" d="100"/>
        </p:scale>
        <p:origin x="654" y="-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17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30A17">
                <a:alpha val="100000"/>
              </a:srgbClr>
            </a:gs>
            <a:gs pos="100000">
              <a:srgbClr val="185BB5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482361" y="-403749"/>
            <a:ext cx="14619574" cy="11439816"/>
          </a:xfrm>
          <a:custGeom>
            <a:avLst/>
            <a:gdLst/>
            <a:ahLst/>
            <a:cxnLst/>
            <a:rect l="l" t="t" r="r" b="b"/>
            <a:pathLst>
              <a:path w="14619574" h="11439816">
                <a:moveTo>
                  <a:pt x="0" y="0"/>
                </a:moveTo>
                <a:lnTo>
                  <a:pt x="14619574" y="0"/>
                </a:lnTo>
                <a:lnTo>
                  <a:pt x="14619574" y="11439816"/>
                </a:lnTo>
                <a:lnTo>
                  <a:pt x="0" y="114398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746884" y="7664170"/>
            <a:ext cx="4265288" cy="2830600"/>
          </a:xfrm>
          <a:custGeom>
            <a:avLst/>
            <a:gdLst/>
            <a:ahLst/>
            <a:cxnLst/>
            <a:rect l="l" t="t" r="r" b="b"/>
            <a:pathLst>
              <a:path w="4265288" h="2830600">
                <a:moveTo>
                  <a:pt x="0" y="0"/>
                </a:moveTo>
                <a:lnTo>
                  <a:pt x="4265288" y="0"/>
                </a:lnTo>
                <a:lnTo>
                  <a:pt x="4265288" y="2830600"/>
                </a:lnTo>
                <a:lnTo>
                  <a:pt x="0" y="2830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4" name="Freeform 4"/>
          <p:cNvSpPr/>
          <p:nvPr/>
        </p:nvSpPr>
        <p:spPr>
          <a:xfrm flipV="1">
            <a:off x="-253764" y="9164863"/>
            <a:ext cx="2215312" cy="1470162"/>
          </a:xfrm>
          <a:custGeom>
            <a:avLst/>
            <a:gdLst/>
            <a:ahLst/>
            <a:cxnLst/>
            <a:rect l="l" t="t" r="r" b="b"/>
            <a:pathLst>
              <a:path w="2215312" h="1470162">
                <a:moveTo>
                  <a:pt x="0" y="1470161"/>
                </a:moveTo>
                <a:lnTo>
                  <a:pt x="2215312" y="1470161"/>
                </a:lnTo>
                <a:lnTo>
                  <a:pt x="2215312" y="0"/>
                </a:lnTo>
                <a:lnTo>
                  <a:pt x="0" y="0"/>
                </a:lnTo>
                <a:lnTo>
                  <a:pt x="0" y="147016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023936" y="2046111"/>
            <a:ext cx="16230600" cy="347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99"/>
              </a:lnSpc>
            </a:pPr>
            <a:r>
              <a:rPr lang="en-US" sz="9999" b="1" spc="-289" dirty="0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Threat Modeling and security assessment of a NAS storage system in a small office network 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524000" y="6296520"/>
            <a:ext cx="3401724" cy="605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 dirty="0">
                <a:solidFill>
                  <a:srgbClr val="FFFFFF"/>
                </a:solidFill>
                <a:latin typeface="TT Norms"/>
                <a:ea typeface="TT Norms"/>
                <a:cs typeface="TT Norms"/>
                <a:sym typeface="TT Norms"/>
              </a:rPr>
              <a:t>Messaoudi Leila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139238" y="4652327"/>
            <a:ext cx="9525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endParaRPr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E711712-7DBD-A95E-FBB0-BC4ACF10BD8F}"/>
              </a:ext>
            </a:extLst>
          </p:cNvPr>
          <p:cNvSpPr txBox="1"/>
          <p:nvPr/>
        </p:nvSpPr>
        <p:spPr>
          <a:xfrm>
            <a:off x="14356424" y="9783988"/>
            <a:ext cx="20185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>
                <a:solidFill>
                  <a:schemeClr val="bg1"/>
                </a:solidFill>
              </a:rPr>
              <a:t>16</a:t>
            </a:r>
            <a:r>
              <a:rPr lang="fr-BE" dirty="0"/>
              <a:t> </a:t>
            </a:r>
            <a:r>
              <a:rPr lang="fr-BE" dirty="0" err="1">
                <a:solidFill>
                  <a:schemeClr val="bg1"/>
                </a:solidFill>
              </a:rPr>
              <a:t>December</a:t>
            </a:r>
            <a:r>
              <a:rPr lang="fr-BE" dirty="0">
                <a:solidFill>
                  <a:schemeClr val="bg1"/>
                </a:solidFill>
              </a:rPr>
              <a:t>  2025</a:t>
            </a:r>
          </a:p>
        </p:txBody>
      </p:sp>
      <p:sp>
        <p:nvSpPr>
          <p:cNvPr id="11" name="object 9">
            <a:extLst>
              <a:ext uri="{FF2B5EF4-FFF2-40B4-BE49-F238E27FC236}">
                <a16:creationId xmlns:a16="http://schemas.microsoft.com/office/drawing/2014/main" id="{86CA2142-2B75-54D6-740B-03B5FD10ACED}"/>
              </a:ext>
            </a:extLst>
          </p:cNvPr>
          <p:cNvSpPr/>
          <p:nvPr/>
        </p:nvSpPr>
        <p:spPr>
          <a:xfrm>
            <a:off x="7586663" y="8337235"/>
            <a:ext cx="3124199" cy="215034"/>
          </a:xfrm>
          <a:custGeom>
            <a:avLst/>
            <a:gdLst/>
            <a:ahLst/>
            <a:cxnLst/>
            <a:rect l="l" t="t" r="r" b="b"/>
            <a:pathLst>
              <a:path w="2009775" h="342900">
                <a:moveTo>
                  <a:pt x="1938578" y="342899"/>
                </a:moveTo>
                <a:lnTo>
                  <a:pt x="71196" y="342899"/>
                </a:lnTo>
                <a:lnTo>
                  <a:pt x="66241" y="342411"/>
                </a:lnTo>
                <a:lnTo>
                  <a:pt x="29705" y="327277"/>
                </a:lnTo>
                <a:lnTo>
                  <a:pt x="3885" y="291237"/>
                </a:lnTo>
                <a:lnTo>
                  <a:pt x="0" y="271703"/>
                </a:lnTo>
                <a:lnTo>
                  <a:pt x="0" y="266699"/>
                </a:lnTo>
                <a:lnTo>
                  <a:pt x="0" y="71196"/>
                </a:lnTo>
                <a:lnTo>
                  <a:pt x="15621" y="29704"/>
                </a:lnTo>
                <a:lnTo>
                  <a:pt x="51661" y="3885"/>
                </a:lnTo>
                <a:lnTo>
                  <a:pt x="71196" y="0"/>
                </a:lnTo>
                <a:lnTo>
                  <a:pt x="1938578" y="0"/>
                </a:lnTo>
                <a:lnTo>
                  <a:pt x="1980068" y="15621"/>
                </a:lnTo>
                <a:lnTo>
                  <a:pt x="2005888" y="51661"/>
                </a:lnTo>
                <a:lnTo>
                  <a:pt x="2009774" y="71196"/>
                </a:lnTo>
                <a:lnTo>
                  <a:pt x="2009774" y="271703"/>
                </a:lnTo>
                <a:lnTo>
                  <a:pt x="1994152" y="313193"/>
                </a:lnTo>
                <a:lnTo>
                  <a:pt x="1958112" y="339013"/>
                </a:lnTo>
                <a:lnTo>
                  <a:pt x="1943533" y="342411"/>
                </a:lnTo>
                <a:lnTo>
                  <a:pt x="1938578" y="342899"/>
                </a:lnTo>
                <a:close/>
              </a:path>
            </a:pathLst>
          </a:custGeom>
          <a:solidFill>
            <a:srgbClr val="FFFFFF">
              <a:alpha val="19999"/>
            </a:srgbClr>
          </a:solidFill>
        </p:spPr>
        <p:txBody>
          <a:bodyPr wrap="square" lIns="0" tIns="0" rIns="0" bIns="0" rtlCol="0"/>
          <a:lstStyle>
            <a:defPPr>
              <a:defRPr kern="0"/>
            </a:defPPr>
          </a:lstStyle>
          <a:p>
            <a:pPr algn="ctr"/>
            <a:r>
              <a:rPr lang="fr-BE" sz="1400" dirty="0">
                <a:latin typeface="Aptos Light" panose="020B0004020202020204" pitchFamily="34" charset="0"/>
              </a:rPr>
              <a:t>ELEC-H550 Embedded System Security</a:t>
            </a:r>
            <a:endParaRPr sz="1400" dirty="0">
              <a:latin typeface="Aptos Light" panose="020B0004020202020204" pitchFamily="34" charset="0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8675FFE-FE88-3F52-2100-4C21309A8980}"/>
              </a:ext>
            </a:extLst>
          </p:cNvPr>
          <p:cNvSpPr txBox="1"/>
          <p:nvPr/>
        </p:nvSpPr>
        <p:spPr>
          <a:xfrm>
            <a:off x="7119645" y="7763320"/>
            <a:ext cx="44151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 err="1">
                <a:solidFill>
                  <a:schemeClr val="bg1"/>
                </a:solidFill>
                <a:latin typeface="Aptos Light" panose="020B0004020202020204" pitchFamily="34" charset="0"/>
              </a:rPr>
              <a:t>Supervisors</a:t>
            </a:r>
            <a:r>
              <a:rPr lang="fr-BE" dirty="0">
                <a:solidFill>
                  <a:schemeClr val="bg1"/>
                </a:solidFill>
                <a:latin typeface="Aptos Light" panose="020B0004020202020204" pitchFamily="34" charset="0"/>
              </a:rPr>
              <a:t> : </a:t>
            </a:r>
            <a:r>
              <a:rPr lang="fr-BE" dirty="0" err="1">
                <a:solidFill>
                  <a:schemeClr val="bg1"/>
                </a:solidFill>
                <a:latin typeface="Aptos Light" panose="020B0004020202020204" pitchFamily="34" charset="0"/>
              </a:rPr>
              <a:t>Pr.MJ</a:t>
            </a:r>
            <a:r>
              <a:rPr lang="fr-BE" dirty="0">
                <a:solidFill>
                  <a:schemeClr val="bg1"/>
                </a:solidFill>
                <a:latin typeface="Aptos Light" panose="020B0004020202020204" pitchFamily="34" charset="0"/>
              </a:rPr>
              <a:t> Tobias, </a:t>
            </a:r>
            <a:r>
              <a:rPr lang="fr-BE" dirty="0" err="1">
                <a:solidFill>
                  <a:schemeClr val="bg1"/>
                </a:solidFill>
                <a:latin typeface="Aptos Light" panose="020B0004020202020204" pitchFamily="34" charset="0"/>
              </a:rPr>
              <a:t>Navid</a:t>
            </a:r>
            <a:r>
              <a:rPr lang="fr-BE" dirty="0">
                <a:solidFill>
                  <a:schemeClr val="bg1"/>
                </a:solidFill>
                <a:latin typeface="Aptos Light" panose="020B0004020202020204" pitchFamily="34" charset="0"/>
              </a:rPr>
              <a:t> </a:t>
            </a:r>
            <a:r>
              <a:rPr lang="fr-BE" dirty="0" err="1">
                <a:solidFill>
                  <a:schemeClr val="bg1"/>
                </a:solidFill>
                <a:latin typeface="Aptos Light" panose="020B0004020202020204" pitchFamily="34" charset="0"/>
              </a:rPr>
              <a:t>Ladner</a:t>
            </a:r>
            <a:endParaRPr lang="fr-BE" dirty="0">
              <a:solidFill>
                <a:schemeClr val="bg1"/>
              </a:solidFill>
              <a:latin typeface="Aptos Light" panose="020B0004020202020204" pitchFamily="34" charset="0"/>
            </a:endParaRPr>
          </a:p>
        </p:txBody>
      </p:sp>
      <p:sp>
        <p:nvSpPr>
          <p:cNvPr id="13" name="Rectangle 1">
            <a:extLst>
              <a:ext uri="{FF2B5EF4-FFF2-40B4-BE49-F238E27FC236}">
                <a16:creationId xmlns:a16="http://schemas.microsoft.com/office/drawing/2014/main" id="{14B94AF4-F4CE-14E2-345C-FD4E0AA172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Mühlberg Jan Tobias</a:t>
            </a:r>
            <a:endParaRPr kumimoji="0" lang="fr-FR" altLang="fr-F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2">
            <a:extLst>
              <a:ext uri="{FF2B5EF4-FFF2-40B4-BE49-F238E27FC236}">
                <a16:creationId xmlns:a16="http://schemas.microsoft.com/office/drawing/2014/main" id="{3D3D2948-CF44-BCF5-5F7E-5748D43A4C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0" fontAlgn="t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>
                <a:ln>
                  <a:noFill/>
                </a:ln>
                <a:solidFill>
                  <a:srgbClr val="242424"/>
                </a:solidFill>
                <a:effectLst/>
                <a:latin typeface="inherit"/>
              </a:rPr>
              <a:t>Mühlberg Jan Tobias</a:t>
            </a:r>
            <a:endParaRPr kumimoji="0" lang="fr-FR" altLang="fr-FR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kumimoji="0" lang="fr-FR" altLang="fr-FR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EBB3A3D7-63E4-EACD-E01D-649D012D699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30227" y="7122127"/>
            <a:ext cx="1891586" cy="1891586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15AD269-D328-65CD-7020-19C3DF8A0C6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35" y="7522543"/>
            <a:ext cx="5759176" cy="1794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695" y="65620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4799684" y="-5075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 flipH="1">
            <a:off x="4720188" y="5258587"/>
            <a:ext cx="19518" cy="904986"/>
          </a:xfrm>
          <a:prstGeom prst="line">
            <a:avLst/>
          </a:prstGeom>
          <a:ln w="28575" cap="flat">
            <a:gradFill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5" name="AutoShape 5"/>
          <p:cNvSpPr/>
          <p:nvPr/>
        </p:nvSpPr>
        <p:spPr>
          <a:xfrm>
            <a:off x="4739706" y="6167726"/>
            <a:ext cx="0" cy="821950"/>
          </a:xfrm>
          <a:prstGeom prst="line">
            <a:avLst/>
          </a:prstGeom>
          <a:ln w="28575" cap="flat">
            <a:gradFill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sp>
        <p:nvSpPr>
          <p:cNvPr id="6" name="AutoShape 6"/>
          <p:cNvSpPr/>
          <p:nvPr/>
        </p:nvSpPr>
        <p:spPr>
          <a:xfrm>
            <a:off x="4739706" y="6989675"/>
            <a:ext cx="22001" cy="888379"/>
          </a:xfrm>
          <a:prstGeom prst="line">
            <a:avLst/>
          </a:prstGeom>
          <a:ln w="28575" cap="flat">
            <a:gradFill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7" name="Group 7"/>
          <p:cNvGrpSpPr/>
          <p:nvPr/>
        </p:nvGrpSpPr>
        <p:grpSpPr>
          <a:xfrm>
            <a:off x="4739706" y="4929041"/>
            <a:ext cx="9181148" cy="700611"/>
            <a:chOff x="0" y="0"/>
            <a:chExt cx="2418080" cy="18452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18080" cy="184523"/>
            </a:xfrm>
            <a:custGeom>
              <a:avLst/>
              <a:gdLst/>
              <a:ahLst/>
              <a:cxnLst/>
              <a:rect l="l" t="t" r="r" b="b"/>
              <a:pathLst>
                <a:path w="2418080" h="184523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0199"/>
                  </a:lnTo>
                  <a:cubicBezTo>
                    <a:pt x="2418080" y="146770"/>
                    <a:pt x="2380327" y="184523"/>
                    <a:pt x="2333756" y="184523"/>
                  </a:cubicBezTo>
                  <a:lnTo>
                    <a:pt x="84324" y="184523"/>
                  </a:lnTo>
                  <a:cubicBezTo>
                    <a:pt x="37753" y="184523"/>
                    <a:pt x="0" y="146770"/>
                    <a:pt x="0" y="100199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2418080" cy="222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4739706" y="6639370"/>
            <a:ext cx="9181148" cy="700611"/>
            <a:chOff x="0" y="0"/>
            <a:chExt cx="2418080" cy="1845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18080" cy="184523"/>
            </a:xfrm>
            <a:custGeom>
              <a:avLst/>
              <a:gdLst/>
              <a:ahLst/>
              <a:cxnLst/>
              <a:rect l="l" t="t" r="r" b="b"/>
              <a:pathLst>
                <a:path w="2418080" h="184523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0199"/>
                  </a:lnTo>
                  <a:cubicBezTo>
                    <a:pt x="2418080" y="146770"/>
                    <a:pt x="2380327" y="184523"/>
                    <a:pt x="2333756" y="184523"/>
                  </a:cubicBezTo>
                  <a:lnTo>
                    <a:pt x="84324" y="184523"/>
                  </a:lnTo>
                  <a:cubicBezTo>
                    <a:pt x="37753" y="184523"/>
                    <a:pt x="0" y="146770"/>
                    <a:pt x="0" y="100199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2418080" cy="222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39706" y="7494534"/>
            <a:ext cx="9181148" cy="700611"/>
            <a:chOff x="0" y="0"/>
            <a:chExt cx="2418080" cy="184523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418080" cy="184523"/>
            </a:xfrm>
            <a:custGeom>
              <a:avLst/>
              <a:gdLst/>
              <a:ahLst/>
              <a:cxnLst/>
              <a:rect l="l" t="t" r="r" b="b"/>
              <a:pathLst>
                <a:path w="2418080" h="184523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0199"/>
                  </a:lnTo>
                  <a:cubicBezTo>
                    <a:pt x="2418080" y="146770"/>
                    <a:pt x="2380327" y="184523"/>
                    <a:pt x="2333756" y="184523"/>
                  </a:cubicBezTo>
                  <a:lnTo>
                    <a:pt x="84324" y="184523"/>
                  </a:lnTo>
                  <a:cubicBezTo>
                    <a:pt x="37753" y="184523"/>
                    <a:pt x="0" y="146770"/>
                    <a:pt x="0" y="100199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38100"/>
              <a:ext cx="2418080" cy="222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4739706" y="5784205"/>
            <a:ext cx="9181148" cy="700611"/>
            <a:chOff x="0" y="0"/>
            <a:chExt cx="2418080" cy="18452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418080" cy="184523"/>
            </a:xfrm>
            <a:custGeom>
              <a:avLst/>
              <a:gdLst/>
              <a:ahLst/>
              <a:cxnLst/>
              <a:rect l="l" t="t" r="r" b="b"/>
              <a:pathLst>
                <a:path w="2418080" h="184523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0199"/>
                  </a:lnTo>
                  <a:cubicBezTo>
                    <a:pt x="2418080" y="146770"/>
                    <a:pt x="2380327" y="184523"/>
                    <a:pt x="2333756" y="184523"/>
                  </a:cubicBezTo>
                  <a:lnTo>
                    <a:pt x="84324" y="184523"/>
                  </a:lnTo>
                  <a:cubicBezTo>
                    <a:pt x="37753" y="184523"/>
                    <a:pt x="0" y="146770"/>
                    <a:pt x="0" y="100199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38100"/>
              <a:ext cx="2418080" cy="222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77958" y="5067294"/>
            <a:ext cx="424106" cy="424106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877958" y="6777622"/>
            <a:ext cx="424106" cy="424106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877958" y="7632786"/>
            <a:ext cx="424106" cy="424106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4877958" y="5922458"/>
            <a:ext cx="424106" cy="424106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2" name="Freeform 32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5518777" y="5010144"/>
            <a:ext cx="5842720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STRIDE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518777" y="6720472"/>
            <a:ext cx="8144391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Matrice of impact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518777" y="7575636"/>
            <a:ext cx="7968242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Mitigations 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5506304" y="5837013"/>
            <a:ext cx="7275393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Nmap and Nessus 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19967" y="1053100"/>
            <a:ext cx="13248065" cy="1530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1125"/>
              </a:lnSpc>
              <a:spcBef>
                <a:spcPct val="0"/>
              </a:spcBef>
            </a:pPr>
            <a:r>
              <a:rPr lang="en-US" sz="12501" b="1" spc="-362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Summary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4754576" y="4090687"/>
            <a:ext cx="9181148" cy="705233"/>
            <a:chOff x="0" y="0"/>
            <a:chExt cx="2418080" cy="185741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418080" cy="185741"/>
            </a:xfrm>
            <a:custGeom>
              <a:avLst/>
              <a:gdLst/>
              <a:ahLst/>
              <a:cxnLst/>
              <a:rect l="l" t="t" r="r" b="b"/>
              <a:pathLst>
                <a:path w="2418080" h="185741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1416"/>
                  </a:lnTo>
                  <a:cubicBezTo>
                    <a:pt x="2418080" y="147987"/>
                    <a:pt x="2380327" y="185741"/>
                    <a:pt x="2333756" y="185741"/>
                  </a:cubicBezTo>
                  <a:lnTo>
                    <a:pt x="84324" y="185741"/>
                  </a:lnTo>
                  <a:cubicBezTo>
                    <a:pt x="37753" y="185741"/>
                    <a:pt x="0" y="147987"/>
                    <a:pt x="0" y="101416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0" y="-38100"/>
              <a:ext cx="2418080" cy="22384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1" name="AutoShape 41"/>
          <p:cNvSpPr/>
          <p:nvPr/>
        </p:nvSpPr>
        <p:spPr>
          <a:xfrm flipV="1">
            <a:off x="4739706" y="4443304"/>
            <a:ext cx="14870" cy="831314"/>
          </a:xfrm>
          <a:prstGeom prst="line">
            <a:avLst/>
          </a:prstGeom>
          <a:ln w="28575" cap="flat">
            <a:gradFill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42" name="Group 42"/>
          <p:cNvGrpSpPr/>
          <p:nvPr/>
        </p:nvGrpSpPr>
        <p:grpSpPr>
          <a:xfrm>
            <a:off x="4877958" y="4209660"/>
            <a:ext cx="424106" cy="424106"/>
            <a:chOff x="0" y="0"/>
            <a:chExt cx="812800" cy="81280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5518777" y="4084210"/>
            <a:ext cx="5842720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DFD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4739706" y="3256956"/>
            <a:ext cx="9181148" cy="700611"/>
            <a:chOff x="0" y="0"/>
            <a:chExt cx="2418080" cy="184523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18080" cy="184523"/>
            </a:xfrm>
            <a:custGeom>
              <a:avLst/>
              <a:gdLst/>
              <a:ahLst/>
              <a:cxnLst/>
              <a:rect l="l" t="t" r="r" b="b"/>
              <a:pathLst>
                <a:path w="2418080" h="184523">
                  <a:moveTo>
                    <a:pt x="84324" y="0"/>
                  </a:moveTo>
                  <a:lnTo>
                    <a:pt x="2333756" y="0"/>
                  </a:lnTo>
                  <a:cubicBezTo>
                    <a:pt x="2356120" y="0"/>
                    <a:pt x="2377568" y="8884"/>
                    <a:pt x="2393382" y="24698"/>
                  </a:cubicBezTo>
                  <a:cubicBezTo>
                    <a:pt x="2409196" y="40512"/>
                    <a:pt x="2418080" y="61960"/>
                    <a:pt x="2418080" y="84324"/>
                  </a:cubicBezTo>
                  <a:lnTo>
                    <a:pt x="2418080" y="100199"/>
                  </a:lnTo>
                  <a:cubicBezTo>
                    <a:pt x="2418080" y="146770"/>
                    <a:pt x="2380327" y="184523"/>
                    <a:pt x="2333756" y="184523"/>
                  </a:cubicBezTo>
                  <a:lnTo>
                    <a:pt x="84324" y="184523"/>
                  </a:lnTo>
                  <a:cubicBezTo>
                    <a:pt x="37753" y="184523"/>
                    <a:pt x="0" y="146770"/>
                    <a:pt x="0" y="100199"/>
                  </a:cubicBezTo>
                  <a:lnTo>
                    <a:pt x="0" y="84324"/>
                  </a:lnTo>
                  <a:cubicBezTo>
                    <a:pt x="0" y="37753"/>
                    <a:pt x="37753" y="0"/>
                    <a:pt x="84324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28575" cap="rnd">
              <a:gradFill>
                <a:gsLst>
                  <a:gs pos="0">
                    <a:srgbClr val="030A17">
                      <a:alpha val="100000"/>
                    </a:srgbClr>
                  </a:gs>
                  <a:gs pos="100000">
                    <a:srgbClr val="185BB5">
                      <a:alpha val="10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0" y="-38100"/>
              <a:ext cx="2418080" cy="2226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Scope</a:t>
              </a:r>
            </a:p>
          </p:txBody>
        </p:sp>
      </p:grpSp>
      <p:sp>
        <p:nvSpPr>
          <p:cNvPr id="49" name="AutoShape 49"/>
          <p:cNvSpPr/>
          <p:nvPr/>
        </p:nvSpPr>
        <p:spPr>
          <a:xfrm flipV="1">
            <a:off x="4739706" y="3533426"/>
            <a:ext cx="0" cy="848282"/>
          </a:xfrm>
          <a:prstGeom prst="line">
            <a:avLst/>
          </a:prstGeom>
          <a:ln w="28575" cap="flat">
            <a:gradFill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prstDash val="solid"/>
            <a:headEnd type="none" w="sm" len="sm"/>
            <a:tailEnd type="none" w="sm" len="sm"/>
          </a:ln>
        </p:spPr>
      </p:sp>
      <p:grpSp>
        <p:nvGrpSpPr>
          <p:cNvPr id="50" name="Group 50"/>
          <p:cNvGrpSpPr/>
          <p:nvPr/>
        </p:nvGrpSpPr>
        <p:grpSpPr>
          <a:xfrm>
            <a:off x="4877958" y="3395208"/>
            <a:ext cx="424106" cy="424106"/>
            <a:chOff x="0" y="0"/>
            <a:chExt cx="812800" cy="812800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30A17">
                    <a:alpha val="100000"/>
                  </a:srgbClr>
                </a:gs>
                <a:gs pos="100000">
                  <a:srgbClr val="185BB5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cap="sq">
              <a:noFill/>
              <a:prstDash val="solid"/>
              <a:miter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3" name="TextBox 53"/>
          <p:cNvSpPr txBox="1"/>
          <p:nvPr/>
        </p:nvSpPr>
        <p:spPr>
          <a:xfrm>
            <a:off x="5518777" y="3338058"/>
            <a:ext cx="5842720" cy="5378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79"/>
              </a:lnSpc>
            </a:pPr>
            <a:r>
              <a:rPr lang="en-US" sz="31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Scope and methodology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455611" y="930957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25559" y="3473907"/>
            <a:ext cx="16436882" cy="5013249"/>
          </a:xfrm>
          <a:custGeom>
            <a:avLst/>
            <a:gdLst/>
            <a:ahLst/>
            <a:cxnLst/>
            <a:rect l="l" t="t" r="r" b="b"/>
            <a:pathLst>
              <a:path w="16436882" h="5013249">
                <a:moveTo>
                  <a:pt x="0" y="0"/>
                </a:moveTo>
                <a:lnTo>
                  <a:pt x="16436882" y="0"/>
                </a:lnTo>
                <a:lnTo>
                  <a:pt x="16436882" y="5013249"/>
                </a:lnTo>
                <a:lnTo>
                  <a:pt x="0" y="50132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76629" y="1330293"/>
            <a:ext cx="12134741" cy="2371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41"/>
              </a:lnSpc>
            </a:pPr>
            <a:r>
              <a:rPr lang="en-US" sz="10046" b="1" spc="-29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Scope and Methodology</a:t>
            </a:r>
          </a:p>
          <a:p>
            <a:pPr marL="0" lvl="0" indent="0" algn="ctr">
              <a:lnSpc>
                <a:spcPts val="8941"/>
              </a:lnSpc>
              <a:spcBef>
                <a:spcPct val="0"/>
              </a:spcBef>
            </a:pPr>
            <a:endParaRPr lang="en-US" sz="10046" b="1" spc="-291">
              <a:solidFill>
                <a:srgbClr val="13488F"/>
              </a:solidFill>
              <a:latin typeface="Oswald Bold"/>
              <a:ea typeface="Oswald Bold"/>
              <a:cs typeface="Oswald Bold"/>
              <a:sym typeface="Oswal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4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01367" y="1661292"/>
            <a:ext cx="17885266" cy="7978640"/>
          </a:xfrm>
          <a:custGeom>
            <a:avLst/>
            <a:gdLst/>
            <a:ahLst/>
            <a:cxnLst/>
            <a:rect l="l" t="t" r="r" b="b"/>
            <a:pathLst>
              <a:path w="18324124" h="8563981">
                <a:moveTo>
                  <a:pt x="0" y="0"/>
                </a:moveTo>
                <a:lnTo>
                  <a:pt x="18324124" y="0"/>
                </a:lnTo>
                <a:lnTo>
                  <a:pt x="18324124" y="8563980"/>
                </a:lnTo>
                <a:lnTo>
                  <a:pt x="0" y="85639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550" b="-2153"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38858" y="423523"/>
            <a:ext cx="3218742" cy="16879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3847"/>
              </a:lnSpc>
            </a:pPr>
            <a:r>
              <a:rPr lang="en-US" sz="9891" dirty="0">
                <a:solidFill>
                  <a:srgbClr val="000000"/>
                </a:solidFill>
                <a:latin typeface="Cormorant SC"/>
                <a:ea typeface="Cormorant SC"/>
                <a:cs typeface="Cormorant SC"/>
                <a:sym typeface="Cormorant SC"/>
              </a:rPr>
              <a:t>DFD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937521" y="9507889"/>
            <a:ext cx="2571024" cy="457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03"/>
              </a:lnSpc>
              <a:spcBef>
                <a:spcPct val="0"/>
              </a:spcBef>
            </a:pPr>
            <a:r>
              <a:rPr lang="en-US" sz="2645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960157"/>
            <a:ext cx="18324124" cy="5497237"/>
          </a:xfrm>
          <a:custGeom>
            <a:avLst/>
            <a:gdLst/>
            <a:ahLst/>
            <a:cxnLst/>
            <a:rect l="l" t="t" r="r" b="b"/>
            <a:pathLst>
              <a:path w="18324124" h="5497237">
                <a:moveTo>
                  <a:pt x="0" y="0"/>
                </a:moveTo>
                <a:lnTo>
                  <a:pt x="18324124" y="0"/>
                </a:lnTo>
                <a:lnTo>
                  <a:pt x="18324124" y="5497237"/>
                </a:lnTo>
                <a:lnTo>
                  <a:pt x="0" y="54972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2097470"/>
            <a:ext cx="18467707" cy="5194043"/>
          </a:xfrm>
          <a:custGeom>
            <a:avLst/>
            <a:gdLst/>
            <a:ahLst/>
            <a:cxnLst/>
            <a:rect l="l" t="t" r="r" b="b"/>
            <a:pathLst>
              <a:path w="18467707" h="5194043">
                <a:moveTo>
                  <a:pt x="0" y="0"/>
                </a:moveTo>
                <a:lnTo>
                  <a:pt x="18467707" y="0"/>
                </a:lnTo>
                <a:lnTo>
                  <a:pt x="18467707" y="5194043"/>
                </a:lnTo>
                <a:lnTo>
                  <a:pt x="0" y="519404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2039625"/>
            <a:ext cx="18480874" cy="6884126"/>
          </a:xfrm>
          <a:custGeom>
            <a:avLst/>
            <a:gdLst/>
            <a:ahLst/>
            <a:cxnLst/>
            <a:rect l="l" t="t" r="r" b="b"/>
            <a:pathLst>
              <a:path w="18480874" h="6884126">
                <a:moveTo>
                  <a:pt x="0" y="0"/>
                </a:moveTo>
                <a:lnTo>
                  <a:pt x="18480874" y="0"/>
                </a:lnTo>
                <a:lnTo>
                  <a:pt x="18480874" y="6884126"/>
                </a:lnTo>
                <a:lnTo>
                  <a:pt x="0" y="68841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76629" y="295275"/>
            <a:ext cx="12134741" cy="123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1"/>
              </a:lnSpc>
              <a:spcBef>
                <a:spcPct val="0"/>
              </a:spcBef>
            </a:pPr>
            <a:r>
              <a:rPr lang="en-US" sz="10046" b="1" spc="-29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Scan Nmap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628432"/>
            <a:ext cx="18914484" cy="6903787"/>
          </a:xfrm>
          <a:custGeom>
            <a:avLst/>
            <a:gdLst/>
            <a:ahLst/>
            <a:cxnLst/>
            <a:rect l="l" t="t" r="r" b="b"/>
            <a:pathLst>
              <a:path w="18914484" h="6903787">
                <a:moveTo>
                  <a:pt x="0" y="0"/>
                </a:moveTo>
                <a:lnTo>
                  <a:pt x="18914484" y="0"/>
                </a:lnTo>
                <a:lnTo>
                  <a:pt x="18914484" y="6903787"/>
                </a:lnTo>
                <a:lnTo>
                  <a:pt x="0" y="69037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3076629" y="127581"/>
            <a:ext cx="12134741" cy="12356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941"/>
              </a:lnSpc>
              <a:spcBef>
                <a:spcPct val="0"/>
              </a:spcBef>
            </a:pPr>
            <a:r>
              <a:rPr lang="en-US" sz="10046" b="1" spc="-29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Scan Nessus</a:t>
            </a:r>
          </a:p>
        </p:txBody>
      </p:sp>
      <p:sp>
        <p:nvSpPr>
          <p:cNvPr id="8" name="Freeform 8"/>
          <p:cNvSpPr/>
          <p:nvPr/>
        </p:nvSpPr>
        <p:spPr>
          <a:xfrm>
            <a:off x="11649825" y="7144334"/>
            <a:ext cx="5396253" cy="2775770"/>
          </a:xfrm>
          <a:custGeom>
            <a:avLst/>
            <a:gdLst/>
            <a:ahLst/>
            <a:cxnLst/>
            <a:rect l="l" t="t" r="r" b="b"/>
            <a:pathLst>
              <a:path w="5396253" h="2775770">
                <a:moveTo>
                  <a:pt x="0" y="0"/>
                </a:moveTo>
                <a:lnTo>
                  <a:pt x="5396254" y="0"/>
                </a:lnTo>
                <a:lnTo>
                  <a:pt x="5396254" y="2775770"/>
                </a:lnTo>
                <a:lnTo>
                  <a:pt x="0" y="277577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10800000" flipV="1">
            <a:off x="14799684" y="6429756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V="1">
            <a:off x="-628695" y="-413430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4114800"/>
                </a:moveTo>
                <a:lnTo>
                  <a:pt x="4114800" y="4114800"/>
                </a:lnTo>
                <a:lnTo>
                  <a:pt x="4114800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V="1">
            <a:off x="0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1363249"/>
                </a:moveTo>
                <a:lnTo>
                  <a:pt x="2556092" y="1363249"/>
                </a:lnTo>
                <a:lnTo>
                  <a:pt x="2556092" y="0"/>
                </a:lnTo>
                <a:lnTo>
                  <a:pt x="0" y="0"/>
                </a:lnTo>
                <a:lnTo>
                  <a:pt x="0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15768033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0"/>
                </a:moveTo>
                <a:lnTo>
                  <a:pt x="0" y="0"/>
                </a:lnTo>
                <a:lnTo>
                  <a:pt x="0" y="1363249"/>
                </a:lnTo>
                <a:lnTo>
                  <a:pt x="2556091" y="1363249"/>
                </a:lnTo>
                <a:lnTo>
                  <a:pt x="2556091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0" y="1315990"/>
            <a:ext cx="18324124" cy="7764848"/>
          </a:xfrm>
          <a:custGeom>
            <a:avLst/>
            <a:gdLst/>
            <a:ahLst/>
            <a:cxnLst/>
            <a:rect l="l" t="t" r="r" b="b"/>
            <a:pathLst>
              <a:path w="18324124" h="7764848">
                <a:moveTo>
                  <a:pt x="0" y="0"/>
                </a:moveTo>
                <a:lnTo>
                  <a:pt x="18324124" y="0"/>
                </a:lnTo>
                <a:lnTo>
                  <a:pt x="18324124" y="7764847"/>
                </a:lnTo>
                <a:lnTo>
                  <a:pt x="0" y="77648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695" y="65620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4799684" y="-5075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20522" y="1876413"/>
            <a:ext cx="17041475" cy="7817777"/>
          </a:xfrm>
          <a:custGeom>
            <a:avLst/>
            <a:gdLst/>
            <a:ahLst/>
            <a:cxnLst/>
            <a:rect l="l" t="t" r="r" b="b"/>
            <a:pathLst>
              <a:path w="17041475" h="7817777">
                <a:moveTo>
                  <a:pt x="0" y="0"/>
                </a:moveTo>
                <a:lnTo>
                  <a:pt x="17041475" y="0"/>
                </a:lnTo>
                <a:lnTo>
                  <a:pt x="17041475" y="7817777"/>
                </a:lnTo>
                <a:lnTo>
                  <a:pt x="0" y="781777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2386" y="-158289"/>
            <a:ext cx="13563228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Mitigations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529624" y="9674621"/>
            <a:ext cx="2590820" cy="4609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731"/>
              </a:lnSpc>
              <a:spcBef>
                <a:spcPct val="0"/>
              </a:spcBef>
            </a:pPr>
            <a:r>
              <a:rPr lang="en-US" sz="2665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28695" y="65620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" name="Freeform 3"/>
          <p:cNvSpPr/>
          <p:nvPr/>
        </p:nvSpPr>
        <p:spPr>
          <a:xfrm flipH="1" flipV="1">
            <a:off x="14799684" y="-5075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75878" y="1968203"/>
            <a:ext cx="17277017" cy="7817850"/>
          </a:xfrm>
          <a:custGeom>
            <a:avLst/>
            <a:gdLst/>
            <a:ahLst/>
            <a:cxnLst/>
            <a:rect l="l" t="t" r="r" b="b"/>
            <a:pathLst>
              <a:path w="17277017" h="7817850">
                <a:moveTo>
                  <a:pt x="0" y="0"/>
                </a:moveTo>
                <a:lnTo>
                  <a:pt x="17277017" y="0"/>
                </a:lnTo>
                <a:lnTo>
                  <a:pt x="17277017" y="7817850"/>
                </a:lnTo>
                <a:lnTo>
                  <a:pt x="0" y="781785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2362386" y="-267701"/>
            <a:ext cx="13563228" cy="1708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999"/>
              </a:lnSpc>
              <a:spcBef>
                <a:spcPct val="0"/>
              </a:spcBef>
            </a:pPr>
            <a:r>
              <a:rPr lang="en-US" sz="9999" b="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Mitigations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088477" y="9728903"/>
            <a:ext cx="2756386" cy="4867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970"/>
              </a:lnSpc>
              <a:spcBef>
                <a:spcPct val="0"/>
              </a:spcBef>
            </a:pPr>
            <a:r>
              <a:rPr lang="en-US" sz="2835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28695" y="65620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14799684" y="-5075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40225" y="3881443"/>
            <a:ext cx="12207549" cy="27908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04"/>
              </a:lnSpc>
              <a:spcBef>
                <a:spcPct val="0"/>
              </a:spcBef>
            </a:pPr>
            <a:r>
              <a:rPr lang="en-US" sz="20098" b="1" u="none" strike="noStrike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Thank You!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FFAFF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0" y="0"/>
                </a:moveTo>
                <a:lnTo>
                  <a:pt x="2556092" y="0"/>
                </a:lnTo>
                <a:lnTo>
                  <a:pt x="2556092" y="1363249"/>
                </a:lnTo>
                <a:lnTo>
                  <a:pt x="0" y="13632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 flipV="1">
            <a:off x="15768033" y="8923751"/>
            <a:ext cx="2556092" cy="1363249"/>
          </a:xfrm>
          <a:custGeom>
            <a:avLst/>
            <a:gdLst/>
            <a:ahLst/>
            <a:cxnLst/>
            <a:rect l="l" t="t" r="r" b="b"/>
            <a:pathLst>
              <a:path w="2556092" h="1363249">
                <a:moveTo>
                  <a:pt x="2556091" y="1363249"/>
                </a:moveTo>
                <a:lnTo>
                  <a:pt x="0" y="1363249"/>
                </a:lnTo>
                <a:lnTo>
                  <a:pt x="0" y="0"/>
                </a:lnTo>
                <a:lnTo>
                  <a:pt x="2556091" y="0"/>
                </a:lnTo>
                <a:lnTo>
                  <a:pt x="2556091" y="136324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-628695" y="6562093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Freeform 5"/>
          <p:cNvSpPr/>
          <p:nvPr/>
        </p:nvSpPr>
        <p:spPr>
          <a:xfrm flipH="1" flipV="1">
            <a:off x="14799684" y="-507539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4114800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114800" y="0"/>
                </a:lnTo>
                <a:lnTo>
                  <a:pt x="411480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040225" y="3881391"/>
            <a:ext cx="12207549" cy="2790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1304"/>
              </a:lnSpc>
              <a:spcBef>
                <a:spcPct val="0"/>
              </a:spcBef>
            </a:pPr>
            <a:r>
              <a:rPr lang="en-US" sz="20098" b="1">
                <a:solidFill>
                  <a:srgbClr val="13488F"/>
                </a:solidFill>
                <a:latin typeface="Oswald Bold"/>
                <a:ea typeface="Oswald Bold"/>
                <a:cs typeface="Oswald Bold"/>
                <a:sym typeface="Oswald Bold"/>
              </a:rPr>
              <a:t>Questions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443138" y="9201150"/>
            <a:ext cx="3401724" cy="587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8324B"/>
                </a:solidFill>
                <a:latin typeface="TT Norms"/>
                <a:ea typeface="TT Norms"/>
                <a:cs typeface="TT Norms"/>
                <a:sym typeface="TT Norms"/>
              </a:rPr>
              <a:t> Messaoudi Leila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Personnalisé</PresentationFormat>
  <Paragraphs>37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9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3" baseType="lpstr">
      <vt:lpstr>Segoe UI</vt:lpstr>
      <vt:lpstr>Calibri</vt:lpstr>
      <vt:lpstr>Arial</vt:lpstr>
      <vt:lpstr>TT Norms</vt:lpstr>
      <vt:lpstr>Cormorant SC</vt:lpstr>
      <vt:lpstr>inherit</vt:lpstr>
      <vt:lpstr>Oswald Bold</vt:lpstr>
      <vt:lpstr>Canva Sans</vt:lpstr>
      <vt:lpstr>Aptos Light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Gradient Artificial Intelligence Webinar Presentation</dc:title>
  <cp:lastModifiedBy>MESSAOUDI Leïla</cp:lastModifiedBy>
  <cp:revision>2</cp:revision>
  <dcterms:created xsi:type="dcterms:W3CDTF">2006-08-16T00:00:00Z</dcterms:created>
  <dcterms:modified xsi:type="dcterms:W3CDTF">2026-01-14T15:08:44Z</dcterms:modified>
  <dc:identifier>DAG7q0NARoo</dc:identifier>
</cp:coreProperties>
</file>